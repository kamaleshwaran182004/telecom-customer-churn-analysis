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Gelasio Bold" panose="020B0604020202020204" charset="0"/>
      <p:regular r:id="rId14"/>
    </p:embeddedFont>
    <p:embeddedFont>
      <p:font typeface="Gelasio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704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Telecom Customer Churn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Identifying churn patterns across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7,043 customers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support better retention strategies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9BDCAE-AC1B-7874-DB6C-4975C4A1D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586" y="6388420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444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13062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7,043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2972991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7972" y="2113062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21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3927972" y="2972991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294674" y="3740745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0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2294674" y="4600674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61475" y="510857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Demographics, tenure, services, contract, billing — all clean and ready for analysis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Overall Churn Rate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26.54%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of customers have churned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Gender shows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no significant difference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 churn rates between male and female customers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B1BB6-76B0-8564-90DF-56FDACE2E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937" y="6469346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Senior Citizens Churn at Higher Rates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Senior citizens churn at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41%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vs.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26%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non-seniors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2968823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ECE6D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3242866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186113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retention programs for seniors may reduce attrition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D6FC8B-77FC-860D-5ADB-11FFDE2DA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785" y="6420906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Tenure: The Longer, The Loyal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 with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less than 1 year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tenure have a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50% churn rate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Retention drops sharply after year one — early engagement is critical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227903-BCF3-3CE2-DE21-4BA54772B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386" y="6469346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129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Contract Type Is the Strongest Predictor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977753"/>
            <a:ext cx="3053877" cy="1089124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3166765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Month-to-Month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3575447"/>
            <a:ext cx="2675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42%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churn rate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977753"/>
            <a:ext cx="3053976" cy="1089124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3166765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One Year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3575447"/>
            <a:ext cx="26759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11%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churn rate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55889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444901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Two Year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4853583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churn rate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Internet Service Type Matters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Fiber Optic customers churn at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30%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vs.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20%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DSL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Competition or service quality dissatisfaction may drive fiber users away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440269-5C21-E6D3-F180-3BB05E4AF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586" y="6436689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Payment Method: Electronic Check Risk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Finding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Electronic check users churn at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45%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nearly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3× higher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than auto-pay methods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Convenience and trust issues may drive this behavior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26E6B-81E2-9D39-3FB1-ED45840F0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6937" y="6436689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8382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Insights Summary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386582"/>
            <a:ext cx="6296860" cy="10977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3411" y="159504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Contract Length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543411" y="198745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Month-to-month: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42%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churn vs. two-year: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3%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61642"/>
            <a:ext cx="6296860" cy="10977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3411" y="287010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Early Tenure Risk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543411" y="326251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 1 year: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50%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churn rate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936702"/>
            <a:ext cx="6296860" cy="10977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3411" y="414516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Payment Method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543411" y="453757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Electronic check: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45%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churn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211762"/>
            <a:ext cx="6296860" cy="10977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43411" y="542022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Senior Citizens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543411" y="581263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41%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churn vs. </a:t>
            </a: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26%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non-seniors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19F501-A020-56E4-5914-B39131BA5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6937" y="6517977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5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Recommendations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044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Promote Long-Term Contracts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Incentivize 1–2 year commitments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044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Shift Payment Methods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Encourage auto-pay over electronic checks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Engage Early Tenure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on first-year customer experience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Senior Retention Programs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2903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offers for senior customers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C1513A-3ADE-1B88-F2FA-3B790F0640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6937" y="6418028"/>
            <a:ext cx="1425063" cy="388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295</Words>
  <Application>Microsoft Office PowerPoint</Application>
  <PresentationFormat>Widescreen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Gelasio</vt:lpstr>
      <vt:lpstr>Gelasio Bold</vt:lpstr>
      <vt:lpstr>Gelasio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Kamalesh R</cp:lastModifiedBy>
  <cp:revision>2</cp:revision>
  <dcterms:created xsi:type="dcterms:W3CDTF">2026-09-29T05:02:13Z</dcterms:created>
  <dcterms:modified xsi:type="dcterms:W3CDTF">2026-09-29T05:07:09Z</dcterms:modified>
</cp:coreProperties>
</file>